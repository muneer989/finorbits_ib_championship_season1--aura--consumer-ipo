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83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0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3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3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9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2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8EEA32F-6142-4F01-9E8A-A8309242E79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EEEED44-8F93-4A3C-B768-7641087086D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93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F4E5B743-B747-4C46-B293-835162CDB610}"/>
              </a:ext>
            </a:extLst>
          </p:cNvPr>
          <p:cNvSpPr/>
          <p:nvPr/>
        </p:nvSpPr>
        <p:spPr>
          <a:xfrm>
            <a:off x="1064866" y="481957"/>
            <a:ext cx="28152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 Black" panose="020B0A04020102020204" pitchFamily="34" charset="0"/>
                <a:ea typeface="Gelasio" pitchFamily="34" charset="-122"/>
                <a:cs typeface="Gelasio" pitchFamily="34" charset="-120"/>
              </a:rPr>
              <a:t>EQUITY RESEARCH — IPO NOTE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6C148E7-6B42-4038-9819-597C7FBBA47B}"/>
              </a:ext>
            </a:extLst>
          </p:cNvPr>
          <p:cNvSpPr/>
          <p:nvPr/>
        </p:nvSpPr>
        <p:spPr>
          <a:xfrm>
            <a:off x="4273243" y="481957"/>
            <a:ext cx="29238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FE8FF5A-7457-4AE5-A020-4FEF0BABA501}"/>
              </a:ext>
            </a:extLst>
          </p:cNvPr>
          <p:cNvSpPr/>
          <p:nvPr/>
        </p:nvSpPr>
        <p:spPr>
          <a:xfrm>
            <a:off x="928778" y="9234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Arial Black" panose="020B0A04020102020204" pitchFamily="34" charset="0"/>
                <a:ea typeface="Gelasio Semi Bold" pitchFamily="34" charset="-122"/>
                <a:cs typeface="Gelasio Semi Bold" pitchFamily="34" charset="-120"/>
              </a:rPr>
              <a:t>AURA Consumer Sciences Ltd</a:t>
            </a:r>
            <a:endParaRPr lang="en-US" sz="4450" dirty="0">
              <a:latin typeface="Arial Black" panose="020B0A040201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8705012-43AF-45F2-AD8F-AC3D29B82F6D}"/>
              </a:ext>
            </a:extLst>
          </p:cNvPr>
          <p:cNvSpPr/>
          <p:nvPr/>
        </p:nvSpPr>
        <p:spPr>
          <a:xfrm>
            <a:off x="928778" y="269628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Arial Black" panose="020B0A04020102020204" pitchFamily="34" charset="0"/>
                <a:ea typeface="Gelasio" pitchFamily="34" charset="-122"/>
                <a:cs typeface="Gelasio" pitchFamily="34" charset="-120"/>
              </a:rPr>
              <a:t>D2C Wellness &amp; Nutrition | NSE / BSE | April 2026</a:t>
            </a:r>
            <a:endParaRPr lang="en-US" sz="1750" dirty="0">
              <a:latin typeface="Arial Black" panose="020B0A040201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02502DC-EF94-47F8-9233-707FADD2D383}"/>
              </a:ext>
            </a:extLst>
          </p:cNvPr>
          <p:cNvSpPr/>
          <p:nvPr/>
        </p:nvSpPr>
        <p:spPr>
          <a:xfrm>
            <a:off x="928778" y="331433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Arial Black" panose="020B0A04020102020204" pitchFamily="34" charset="0"/>
                <a:ea typeface="Gelasio" pitchFamily="34" charset="-122"/>
                <a:cs typeface="Gelasio" pitchFamily="34" charset="-120"/>
              </a:rPr>
              <a:t>Muneer Ahmad, Aligarh Muslim University Malappuram </a:t>
            </a:r>
            <a:r>
              <a:rPr lang="en-US" sz="1750" dirty="0" err="1">
                <a:solidFill>
                  <a:srgbClr val="746558"/>
                </a:solidFill>
                <a:latin typeface="Arial Black" panose="020B0A04020102020204" pitchFamily="34" charset="0"/>
                <a:ea typeface="Gelasio" pitchFamily="34" charset="-122"/>
                <a:cs typeface="Gelasio" pitchFamily="34" charset="-120"/>
              </a:rPr>
              <a:t>centre</a:t>
            </a:r>
            <a:endParaRPr lang="en-US" sz="1750" dirty="0">
              <a:solidFill>
                <a:srgbClr val="746558"/>
              </a:solidFill>
              <a:latin typeface="Arial Black" panose="020B0A04020102020204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746558"/>
                </a:solidFill>
                <a:latin typeface="Arial Black" panose="020B0A04020102020204" pitchFamily="34" charset="0"/>
                <a:ea typeface="Gelasio" pitchFamily="34" charset="-122"/>
                <a:cs typeface="Gelasio" pitchFamily="34" charset="-120"/>
              </a:rPr>
              <a:t>7248629865  </a:t>
            </a:r>
            <a:endParaRPr lang="en-US" sz="175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689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74F4AF54-0997-4E2C-B7C7-F262C2885A0F}"/>
              </a:ext>
            </a:extLst>
          </p:cNvPr>
          <p:cNvSpPr/>
          <p:nvPr/>
        </p:nvSpPr>
        <p:spPr>
          <a:xfrm>
            <a:off x="360375" y="138705"/>
            <a:ext cx="181927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EXECUTIVE SUMMARY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36AA9C0-944A-4F83-86B1-DC4543F3CE7E}"/>
              </a:ext>
            </a:extLst>
          </p:cNvPr>
          <p:cNvSpPr/>
          <p:nvPr/>
        </p:nvSpPr>
        <p:spPr>
          <a:xfrm>
            <a:off x="295129" y="453181"/>
            <a:ext cx="1124414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Subscribe — Target Price ₹118 | Upside ~79%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F4C5EC5-6A24-42DD-BF4A-59C564FA21A9}"/>
              </a:ext>
            </a:extLst>
          </p:cNvPr>
          <p:cNvSpPr/>
          <p:nvPr/>
        </p:nvSpPr>
        <p:spPr>
          <a:xfrm>
            <a:off x="558257" y="1532691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₹118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1946876-9A75-4A95-948F-F4BB688C3E48}"/>
              </a:ext>
            </a:extLst>
          </p:cNvPr>
          <p:cNvSpPr/>
          <p:nvPr/>
        </p:nvSpPr>
        <p:spPr>
          <a:xfrm>
            <a:off x="2165362" y="244613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Target Price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0539479-707A-4C6C-B43D-41192F3B4D98}"/>
              </a:ext>
            </a:extLst>
          </p:cNvPr>
          <p:cNvSpPr/>
          <p:nvPr/>
        </p:nvSpPr>
        <p:spPr>
          <a:xfrm>
            <a:off x="4132989" y="1519623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₹66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29D5A41-BB04-4283-8FB6-6F20BDD7243C}"/>
              </a:ext>
            </a:extLst>
          </p:cNvPr>
          <p:cNvSpPr/>
          <p:nvPr/>
        </p:nvSpPr>
        <p:spPr>
          <a:xfrm>
            <a:off x="5740094" y="230005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IPO Price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1A9D7C8-16F2-4F65-8E05-FED08AC15D5B}"/>
              </a:ext>
            </a:extLst>
          </p:cNvPr>
          <p:cNvSpPr/>
          <p:nvPr/>
        </p:nvSpPr>
        <p:spPr>
          <a:xfrm>
            <a:off x="558257" y="3234452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~79%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5C7FF80-41E6-40C5-8007-E72BCCD6843B}"/>
              </a:ext>
            </a:extLst>
          </p:cNvPr>
          <p:cNvSpPr/>
          <p:nvPr/>
        </p:nvSpPr>
        <p:spPr>
          <a:xfrm>
            <a:off x="2165362" y="414789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Upside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FBB8810-D6BD-45F6-A3F9-0FDC030C31D1}"/>
              </a:ext>
            </a:extLst>
          </p:cNvPr>
          <p:cNvSpPr/>
          <p:nvPr/>
        </p:nvSpPr>
        <p:spPr>
          <a:xfrm>
            <a:off x="4132988" y="3119437"/>
            <a:ext cx="5765959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₹132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6B737A1-C88B-4AF2-8474-6C5B56E578EF}"/>
              </a:ext>
            </a:extLst>
          </p:cNvPr>
          <p:cNvSpPr/>
          <p:nvPr/>
        </p:nvSpPr>
        <p:spPr>
          <a:xfrm>
            <a:off x="5585475" y="4041819"/>
            <a:ext cx="303133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Weighted Avg Valuation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C91B028-944E-40D6-ACE0-2703AA5B91A4}"/>
              </a:ext>
            </a:extLst>
          </p:cNvPr>
          <p:cNvSpPr/>
          <p:nvPr/>
        </p:nvSpPr>
        <p:spPr>
          <a:xfrm>
            <a:off x="295129" y="471925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Investment Thesis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B3A0E63-1EDC-4D6B-AC56-F4F73991C47C}"/>
              </a:ext>
            </a:extLst>
          </p:cNvPr>
          <p:cNvSpPr/>
          <p:nvPr/>
        </p:nvSpPr>
        <p:spPr>
          <a:xfrm>
            <a:off x="295129" y="5124927"/>
            <a:ext cx="6158151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19%+ revenue CAGR through FY28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EBITDA margin expansion: 12% → 18%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44%+ gross margins; 68% D2C &amp; Q-comm revenue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Proceeds deleverage: Net Debt → Net Cash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B13090C-358E-47D2-83A3-076DFCF1FAA3}"/>
              </a:ext>
            </a:extLst>
          </p:cNvPr>
          <p:cNvSpPr/>
          <p:nvPr/>
        </p:nvSpPr>
        <p:spPr>
          <a:xfrm>
            <a:off x="7015968" y="471925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Key Risks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B7A52B07-1BE1-46EA-B29C-DBB0D4AF71AE}"/>
              </a:ext>
            </a:extLst>
          </p:cNvPr>
          <p:cNvSpPr/>
          <p:nvPr/>
        </p:nvSpPr>
        <p:spPr>
          <a:xfrm>
            <a:off x="6881498" y="5108706"/>
            <a:ext cx="6272451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Execution risk in competitive D2C wellness space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CAC pressure as digital ad costs rise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Inventory days inconsistency (90d vs 50d stated)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Dependence on Blinkit &amp; Zepto platforms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88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1AA74B62-42FE-408E-980D-9386E427A05C}"/>
              </a:ext>
            </a:extLst>
          </p:cNvPr>
          <p:cNvSpPr/>
          <p:nvPr/>
        </p:nvSpPr>
        <p:spPr>
          <a:xfrm>
            <a:off x="606777" y="195393"/>
            <a:ext cx="154840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COMPANY OVERVIEW</a:t>
            </a:r>
            <a:endParaRPr lang="en-US" sz="11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12B095F-E851-4FC5-90A2-B7375738D0A9}"/>
              </a:ext>
            </a:extLst>
          </p:cNvPr>
          <p:cNvSpPr/>
          <p:nvPr/>
        </p:nvSpPr>
        <p:spPr>
          <a:xfrm>
            <a:off x="436365" y="657760"/>
            <a:ext cx="67023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AURA Consumer Sciences Ltd</a:t>
            </a:r>
            <a:endParaRPr lang="en-US" sz="35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00DF477-B068-4705-83FB-62092FEAA63B}"/>
              </a:ext>
            </a:extLst>
          </p:cNvPr>
          <p:cNvSpPr/>
          <p:nvPr/>
        </p:nvSpPr>
        <p:spPr>
          <a:xfrm>
            <a:off x="323059" y="1311770"/>
            <a:ext cx="10551129" cy="489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"Making premium wellness &amp; nutrition accessible to every health-conscious Indian through science-backed D2C products"</a:t>
            </a:r>
            <a:endParaRPr lang="en-US" sz="1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89B6F78-A376-4AED-9C6E-0AD8A7DC469C}"/>
              </a:ext>
            </a:extLst>
          </p:cNvPr>
          <p:cNvSpPr/>
          <p:nvPr/>
        </p:nvSpPr>
        <p:spPr>
          <a:xfrm>
            <a:off x="436365" y="225147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Cold-Pressed Juices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728F276-C18F-4F77-A040-0FEF7A310844}"/>
              </a:ext>
            </a:extLst>
          </p:cNvPr>
          <p:cNvSpPr/>
          <p:nvPr/>
        </p:nvSpPr>
        <p:spPr>
          <a:xfrm>
            <a:off x="436365" y="2621996"/>
            <a:ext cx="2351659" cy="78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HPP technology, 3–5 day shelf life. Key SKUs: Immunity Shots, Green Cleanse.</a:t>
            </a:r>
            <a:endParaRPr lang="en-US" sz="11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698EA08-4DC0-4C47-8094-C87F1BA7E238}"/>
              </a:ext>
            </a:extLst>
          </p:cNvPr>
          <p:cNvSpPr/>
          <p:nvPr/>
        </p:nvSpPr>
        <p:spPr>
          <a:xfrm>
            <a:off x="3742373" y="2251472"/>
            <a:ext cx="277570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Nutritional Supplements</a:t>
            </a:r>
            <a:endParaRPr lang="en-US" sz="14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47AFA17-F1E4-4C09-B385-319856CA2E53}"/>
              </a:ext>
            </a:extLst>
          </p:cNvPr>
          <p:cNvSpPr/>
          <p:nvPr/>
        </p:nvSpPr>
        <p:spPr>
          <a:xfrm>
            <a:off x="3742373" y="2621994"/>
            <a:ext cx="2246051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Whey Protein, Omega-3, Multivitamins. Subscription model.</a:t>
            </a:r>
            <a:endParaRPr lang="en-US" sz="11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B9D6E0B2-62F8-4A99-AA42-24E04E2427B5}"/>
              </a:ext>
            </a:extLst>
          </p:cNvPr>
          <p:cNvSpPr/>
          <p:nvPr/>
        </p:nvSpPr>
        <p:spPr>
          <a:xfrm>
            <a:off x="7048501" y="225147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Wellness Snacks</a:t>
            </a:r>
            <a:endParaRPr lang="en-US" sz="14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AFEBDEC9-34D1-477B-9B96-17AC4315CDEE}"/>
              </a:ext>
            </a:extLst>
          </p:cNvPr>
          <p:cNvSpPr/>
          <p:nvPr/>
        </p:nvSpPr>
        <p:spPr>
          <a:xfrm>
            <a:off x="7048502" y="2621995"/>
            <a:ext cx="190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Makhana, Nut Bars, Protein Biscuits. Clean-label, no preservatives.</a:t>
            </a:r>
            <a:endParaRPr lang="en-US" sz="11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04A99F6C-FF23-4410-ADA0-68D4A1300944}"/>
              </a:ext>
            </a:extLst>
          </p:cNvPr>
          <p:cNvSpPr/>
          <p:nvPr/>
        </p:nvSpPr>
        <p:spPr>
          <a:xfrm>
            <a:off x="10354509" y="225147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Personal Care</a:t>
            </a:r>
            <a:endParaRPr lang="en-US" sz="14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52D61EA7-A713-4311-A24D-ABC95D0D7449}"/>
              </a:ext>
            </a:extLst>
          </p:cNvPr>
          <p:cNvSpPr/>
          <p:nvPr/>
        </p:nvSpPr>
        <p:spPr>
          <a:xfrm>
            <a:off x="10354509" y="2621995"/>
            <a:ext cx="1631303" cy="118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Ayurvedic-influenced formulations. Nascent category leveraging brand equity.</a:t>
            </a:r>
            <a:endParaRPr lang="en-US" sz="11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AA328280-1AB6-4E01-B4FD-F4C35600E498}"/>
              </a:ext>
            </a:extLst>
          </p:cNvPr>
          <p:cNvSpPr/>
          <p:nvPr/>
        </p:nvSpPr>
        <p:spPr>
          <a:xfrm>
            <a:off x="139367" y="4223266"/>
            <a:ext cx="2180133" cy="284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Market Positioning</a:t>
            </a:r>
            <a:endParaRPr lang="en-US" sz="175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EC5B0762-4360-41E9-92C1-76CF73702BB4}"/>
              </a:ext>
            </a:extLst>
          </p:cNvPr>
          <p:cNvSpPr/>
          <p:nvPr/>
        </p:nvSpPr>
        <p:spPr>
          <a:xfrm>
            <a:off x="139367" y="4651890"/>
            <a:ext cx="6055301" cy="1516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Urban millennials 25–40, HHI ₹8L+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Channel Mix: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D2C 42% | Q-Comm 26% | MT 22% | Others 10%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Geography: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Top 10 cities — 80% revenue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Brand: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NPS 68 | Repeat Purchase 52%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Unit Economics: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GM ~44% | LTV/CAC ~3.2x</a:t>
            </a:r>
            <a:endParaRPr lang="en-US" sz="14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298A2D0A-4AE9-44DA-BCC7-C643222F0F42}"/>
              </a:ext>
            </a:extLst>
          </p:cNvPr>
          <p:cNvSpPr/>
          <p:nvPr/>
        </p:nvSpPr>
        <p:spPr>
          <a:xfrm>
            <a:off x="6889734" y="4223266"/>
            <a:ext cx="2862061" cy="284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IPO Transaction Summary</a:t>
            </a:r>
            <a:endParaRPr lang="en-US" sz="175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035D0E03-FBB2-4406-8714-E03BBB4323E2}"/>
              </a:ext>
            </a:extLst>
          </p:cNvPr>
          <p:cNvSpPr/>
          <p:nvPr/>
        </p:nvSpPr>
        <p:spPr>
          <a:xfrm>
            <a:off x="6889735" y="4651890"/>
            <a:ext cx="5302266" cy="196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Price Band: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₹60–₹72 (mid ₹66)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Issue Size: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₹200 Cr Fresh Issue + OFS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Pre-IPO Shares: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10 Crore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Post-IPO Market Cap: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~₹860 Cr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of Proceeds: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₹30 Cr debt repay + ₹170 Cr growth capex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Listing: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NSE &amp; BSE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18607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1">
            <a:extLst>
              <a:ext uri="{FF2B5EF4-FFF2-40B4-BE49-F238E27FC236}">
                <a16:creationId xmlns:a16="http://schemas.microsoft.com/office/drawing/2014/main" id="{C62197B3-6C55-4247-A900-6441B8C26006}"/>
              </a:ext>
            </a:extLst>
          </p:cNvPr>
          <p:cNvSpPr/>
          <p:nvPr/>
        </p:nvSpPr>
        <p:spPr>
          <a:xfrm>
            <a:off x="719376" y="432554"/>
            <a:ext cx="220367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INDUSTRY ANALYSIS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8C69194E-8974-44D9-A4B2-B64037CBC26D}"/>
              </a:ext>
            </a:extLst>
          </p:cNvPr>
          <p:cNvSpPr/>
          <p:nvPr/>
        </p:nvSpPr>
        <p:spPr>
          <a:xfrm>
            <a:off x="719376" y="826532"/>
            <a:ext cx="6713577" cy="41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Indian D2C Wellness &amp; Nutrition Market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A0A8AD2F-6A56-4C36-9F74-3071775EB972}"/>
              </a:ext>
            </a:extLst>
          </p:cNvPr>
          <p:cNvSpPr/>
          <p:nvPr/>
        </p:nvSpPr>
        <p:spPr>
          <a:xfrm>
            <a:off x="1640878" y="1330406"/>
            <a:ext cx="4255294" cy="44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₹1.8L Cr</a:t>
            </a:r>
            <a:endParaRPr lang="en-US" sz="3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297EF0FE-ED90-483F-BAA7-059C66A41B1C}"/>
              </a:ext>
            </a:extLst>
          </p:cNvPr>
          <p:cNvSpPr/>
          <p:nvPr/>
        </p:nvSpPr>
        <p:spPr>
          <a:xfrm>
            <a:off x="3068010" y="1779204"/>
            <a:ext cx="1670090" cy="208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Market Size (2025)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3954DCA1-C0A3-4B3D-9CD8-3EC14EF12C50}"/>
              </a:ext>
            </a:extLst>
          </p:cNvPr>
          <p:cNvSpPr/>
          <p:nvPr/>
        </p:nvSpPr>
        <p:spPr>
          <a:xfrm>
            <a:off x="5305306" y="1287600"/>
            <a:ext cx="4255294" cy="44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19%</a:t>
            </a:r>
            <a:endParaRPr lang="en-US" sz="3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2AD86242-1634-4AA5-8EC2-73BCF5214364}"/>
              </a:ext>
            </a:extLst>
          </p:cNvPr>
          <p:cNvSpPr/>
          <p:nvPr/>
        </p:nvSpPr>
        <p:spPr>
          <a:xfrm>
            <a:off x="6618857" y="1801104"/>
            <a:ext cx="1670090" cy="208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D2C CAGR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88EE4815-F063-407F-BD94-8D9BF33FDDBD}"/>
              </a:ext>
            </a:extLst>
          </p:cNvPr>
          <p:cNvSpPr/>
          <p:nvPr/>
        </p:nvSpPr>
        <p:spPr>
          <a:xfrm>
            <a:off x="1864995" y="2428399"/>
            <a:ext cx="4255294" cy="44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650M+</a:t>
            </a:r>
            <a:endParaRPr lang="en-US" sz="3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C6DF22B7-D282-4102-9BF4-21C4051979F8}"/>
              </a:ext>
            </a:extLst>
          </p:cNvPr>
          <p:cNvSpPr/>
          <p:nvPr/>
        </p:nvSpPr>
        <p:spPr>
          <a:xfrm>
            <a:off x="2888218" y="2995017"/>
            <a:ext cx="2208848" cy="208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Digital Consumers by 2027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1803EE47-F7A6-4A4E-93AF-3D1CBC535794}"/>
              </a:ext>
            </a:extLst>
          </p:cNvPr>
          <p:cNvSpPr/>
          <p:nvPr/>
        </p:nvSpPr>
        <p:spPr>
          <a:xfrm>
            <a:off x="5305306" y="2396511"/>
            <a:ext cx="4255294" cy="44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₹4.2L Cr</a:t>
            </a:r>
            <a:endParaRPr lang="en-US" sz="3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474298FF-669D-42D9-8F53-7DAA7A482EA7}"/>
              </a:ext>
            </a:extLst>
          </p:cNvPr>
          <p:cNvSpPr/>
          <p:nvPr/>
        </p:nvSpPr>
        <p:spPr>
          <a:xfrm>
            <a:off x="6546533" y="2963129"/>
            <a:ext cx="1772841" cy="208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Projected Size (2030)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D8F7AD76-933B-4E67-9E7A-3DDF785F90B5}"/>
              </a:ext>
            </a:extLst>
          </p:cNvPr>
          <p:cNvSpPr/>
          <p:nvPr/>
        </p:nvSpPr>
        <p:spPr>
          <a:xfrm>
            <a:off x="405612" y="4221362"/>
            <a:ext cx="1727954" cy="208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Key Sector Tailwinds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54F768A3-1529-4699-97AB-875823ACB7ED}"/>
              </a:ext>
            </a:extLst>
          </p:cNvPr>
          <p:cNvSpPr/>
          <p:nvPr/>
        </p:nvSpPr>
        <p:spPr>
          <a:xfrm>
            <a:off x="405612" y="4508779"/>
            <a:ext cx="6432828" cy="958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Post-COVID health consciousness — wellness spending ↑22% YoY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Premiumisation: consumers trading up from mass FMCG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Quick-commerce enabling 10-min FMCG-wellness delivery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FSSAI labelling standards creating quality differentiation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50% under 30 demographic shifting to digital-first buying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Market Research Services Company in Gurgaon, India-The India Watch">
            <a:extLst>
              <a:ext uri="{FF2B5EF4-FFF2-40B4-BE49-F238E27FC236}">
                <a16:creationId xmlns:a16="http://schemas.microsoft.com/office/drawing/2014/main" id="{02F7D30D-D68C-457A-8D23-EAC519FD6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468" y="3778546"/>
            <a:ext cx="6020874" cy="225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122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881C1DAC-3753-42F5-8052-E652EE0D4502}"/>
              </a:ext>
            </a:extLst>
          </p:cNvPr>
          <p:cNvSpPr/>
          <p:nvPr/>
        </p:nvSpPr>
        <p:spPr>
          <a:xfrm>
            <a:off x="214508" y="50958"/>
            <a:ext cx="211586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HISTORICAL PERFORMANCE</a:t>
            </a:r>
            <a:endParaRPr lang="en-US" sz="9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04D9BAF-1BDE-43AF-8A3C-BAB089B54ABE}"/>
              </a:ext>
            </a:extLst>
          </p:cNvPr>
          <p:cNvSpPr/>
          <p:nvPr/>
        </p:nvSpPr>
        <p:spPr>
          <a:xfrm>
            <a:off x="857259" y="297117"/>
            <a:ext cx="862500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FY2022A – FY2024A: Strong Momentum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010CC62-3D16-4062-8B3C-B475694E3E40}"/>
              </a:ext>
            </a:extLst>
          </p:cNvPr>
          <p:cNvSpPr/>
          <p:nvPr/>
        </p:nvSpPr>
        <p:spPr>
          <a:xfrm>
            <a:off x="917691" y="1151334"/>
            <a:ext cx="4831199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6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₹224 Cr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A942F3D-CBEE-4E59-8CA7-77AA20320D4E}"/>
              </a:ext>
            </a:extLst>
          </p:cNvPr>
          <p:cNvSpPr/>
          <p:nvPr/>
        </p:nvSpPr>
        <p:spPr>
          <a:xfrm>
            <a:off x="2270062" y="18309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FY24 Revenue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6A566D-87DF-40BD-AC0A-65712B8ECEB6}"/>
              </a:ext>
            </a:extLst>
          </p:cNvPr>
          <p:cNvSpPr/>
          <p:nvPr/>
        </p:nvSpPr>
        <p:spPr>
          <a:xfrm>
            <a:off x="112471" y="2057164"/>
            <a:ext cx="644163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+37% YoY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EAC357A-E410-44A6-B3A3-40A6D5D0EEB1}"/>
              </a:ext>
            </a:extLst>
          </p:cNvPr>
          <p:cNvSpPr/>
          <p:nvPr/>
        </p:nvSpPr>
        <p:spPr>
          <a:xfrm>
            <a:off x="4396459" y="1195507"/>
            <a:ext cx="4831318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6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11.96%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F368E01-9BED-48C1-B2F5-314C7D8682AB}"/>
              </a:ext>
            </a:extLst>
          </p:cNvPr>
          <p:cNvSpPr/>
          <p:nvPr/>
        </p:nvSpPr>
        <p:spPr>
          <a:xfrm>
            <a:off x="5741468" y="1830951"/>
            <a:ext cx="228111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FY24 EBITDA Margin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47D2A8E-DF75-4922-A285-00AB4DC0B829}"/>
              </a:ext>
            </a:extLst>
          </p:cNvPr>
          <p:cNvSpPr/>
          <p:nvPr/>
        </p:nvSpPr>
        <p:spPr>
          <a:xfrm>
            <a:off x="3637734" y="2064417"/>
            <a:ext cx="644175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Up from 3% in FY22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AB4E78E-BD69-419C-92E8-668D894CAF19}"/>
              </a:ext>
            </a:extLst>
          </p:cNvPr>
          <p:cNvSpPr/>
          <p:nvPr/>
        </p:nvSpPr>
        <p:spPr>
          <a:xfrm>
            <a:off x="997403" y="2527743"/>
            <a:ext cx="4831199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6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₹13.4 Cr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E81777D-8013-4357-B773-C5E2E8D25C5D}"/>
              </a:ext>
            </a:extLst>
          </p:cNvPr>
          <p:cNvSpPr/>
          <p:nvPr/>
        </p:nvSpPr>
        <p:spPr>
          <a:xfrm>
            <a:off x="2226001" y="306223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FY24 PAT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1F69D4E-E476-4A5C-9BE1-35C2C158A5B4}"/>
              </a:ext>
            </a:extLst>
          </p:cNvPr>
          <p:cNvSpPr/>
          <p:nvPr/>
        </p:nvSpPr>
        <p:spPr>
          <a:xfrm>
            <a:off x="0" y="3315447"/>
            <a:ext cx="644163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+106% YoY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E013EF0-CCB7-4AE5-86CB-D90576E44F17}"/>
              </a:ext>
            </a:extLst>
          </p:cNvPr>
          <p:cNvSpPr/>
          <p:nvPr/>
        </p:nvSpPr>
        <p:spPr>
          <a:xfrm>
            <a:off x="4329462" y="2541404"/>
            <a:ext cx="4831318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6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7.6x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CA2D10E-7B8D-483A-A1E9-AD92718F7C10}"/>
              </a:ext>
            </a:extLst>
          </p:cNvPr>
          <p:cNvSpPr/>
          <p:nvPr/>
        </p:nvSpPr>
        <p:spPr>
          <a:xfrm>
            <a:off x="5681893" y="307747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Interest Coverage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D8059B1-C881-4631-80CA-68D1EB486370}"/>
              </a:ext>
            </a:extLst>
          </p:cNvPr>
          <p:cNvSpPr/>
          <p:nvPr/>
        </p:nvSpPr>
        <p:spPr>
          <a:xfrm>
            <a:off x="3524242" y="3321577"/>
            <a:ext cx="644175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Up from 4x in FY22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66054D0E-C699-4054-96B9-E49CA94E925F}"/>
              </a:ext>
            </a:extLst>
          </p:cNvPr>
          <p:cNvSpPr/>
          <p:nvPr/>
        </p:nvSpPr>
        <p:spPr>
          <a:xfrm>
            <a:off x="-579156" y="3572152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DB55B190-82CE-47D3-9230-9868AD155D81}"/>
              </a:ext>
            </a:extLst>
          </p:cNvPr>
          <p:cNvSpPr/>
          <p:nvPr/>
        </p:nvSpPr>
        <p:spPr>
          <a:xfrm>
            <a:off x="130401" y="3696536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Metric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3CDFC6F-EF23-43D0-AC23-A214BA9E4D17}"/>
              </a:ext>
            </a:extLst>
          </p:cNvPr>
          <p:cNvSpPr/>
          <p:nvPr/>
        </p:nvSpPr>
        <p:spPr>
          <a:xfrm>
            <a:off x="3781929" y="3696536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FY22A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76A26AA-02DF-4CDD-BFA4-FB0F5F7E859F}"/>
              </a:ext>
            </a:extLst>
          </p:cNvPr>
          <p:cNvSpPr/>
          <p:nvPr/>
        </p:nvSpPr>
        <p:spPr>
          <a:xfrm>
            <a:off x="5735983" y="3696536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FY23A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D970E472-AE2E-4583-A776-C0DC5A41B4F9}"/>
              </a:ext>
            </a:extLst>
          </p:cNvPr>
          <p:cNvSpPr/>
          <p:nvPr/>
        </p:nvSpPr>
        <p:spPr>
          <a:xfrm>
            <a:off x="7690036" y="3696536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FY24A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02A2DDE-441C-4DB6-8B7A-69830C0FDA06}"/>
              </a:ext>
            </a:extLst>
          </p:cNvPr>
          <p:cNvSpPr/>
          <p:nvPr/>
        </p:nvSpPr>
        <p:spPr>
          <a:xfrm>
            <a:off x="9513836" y="3696536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FY23 YoY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9126D3D-F385-4329-BC6C-3FD668FCA66D}"/>
              </a:ext>
            </a:extLst>
          </p:cNvPr>
          <p:cNvSpPr/>
          <p:nvPr/>
        </p:nvSpPr>
        <p:spPr>
          <a:xfrm>
            <a:off x="11337635" y="3696536"/>
            <a:ext cx="14799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FY24 YoY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753145E9-7698-4513-8AD2-BFE24EFC679C}"/>
              </a:ext>
            </a:extLst>
          </p:cNvPr>
          <p:cNvSpPr/>
          <p:nvPr/>
        </p:nvSpPr>
        <p:spPr>
          <a:xfrm>
            <a:off x="130401" y="4102777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Revenue (₹ Cr)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7E5D61AD-D37E-4C00-B4AF-007EF0104A59}"/>
              </a:ext>
            </a:extLst>
          </p:cNvPr>
          <p:cNvSpPr/>
          <p:nvPr/>
        </p:nvSpPr>
        <p:spPr>
          <a:xfrm>
            <a:off x="3781929" y="4102777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112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418865AA-39B3-488C-9DC8-527562210DA1}"/>
              </a:ext>
            </a:extLst>
          </p:cNvPr>
          <p:cNvSpPr/>
          <p:nvPr/>
        </p:nvSpPr>
        <p:spPr>
          <a:xfrm>
            <a:off x="5735983" y="4102777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163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06D9C966-7221-4986-BBC2-1C9C6AA3CC30}"/>
              </a:ext>
            </a:extLst>
          </p:cNvPr>
          <p:cNvSpPr/>
          <p:nvPr/>
        </p:nvSpPr>
        <p:spPr>
          <a:xfrm>
            <a:off x="7690036" y="4102777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224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BA4A551D-B73F-479A-8F8E-D426CE66E97C}"/>
              </a:ext>
            </a:extLst>
          </p:cNvPr>
          <p:cNvSpPr/>
          <p:nvPr/>
        </p:nvSpPr>
        <p:spPr>
          <a:xfrm>
            <a:off x="9513836" y="4102777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+45.5%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06D1766B-9130-4328-A954-0F6D28EB6341}"/>
              </a:ext>
            </a:extLst>
          </p:cNvPr>
          <p:cNvSpPr/>
          <p:nvPr/>
        </p:nvSpPr>
        <p:spPr>
          <a:xfrm>
            <a:off x="11337635" y="4102777"/>
            <a:ext cx="14799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+37.4%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E5F548DE-9B31-4BA1-8FE8-20300E51F2C5}"/>
              </a:ext>
            </a:extLst>
          </p:cNvPr>
          <p:cNvSpPr/>
          <p:nvPr/>
        </p:nvSpPr>
        <p:spPr>
          <a:xfrm>
            <a:off x="138021" y="4497945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01EA934A-1E1E-47B4-8167-1F01E8A7A37A}"/>
              </a:ext>
            </a:extLst>
          </p:cNvPr>
          <p:cNvSpPr/>
          <p:nvPr/>
        </p:nvSpPr>
        <p:spPr>
          <a:xfrm>
            <a:off x="130401" y="4509018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Gross Margin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C44F1253-264F-4AE0-AB1E-2996BF3E8613}"/>
              </a:ext>
            </a:extLst>
          </p:cNvPr>
          <p:cNvSpPr/>
          <p:nvPr/>
        </p:nvSpPr>
        <p:spPr>
          <a:xfrm>
            <a:off x="3781929" y="4509018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40.0%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2D316E43-1CBA-4EE2-A113-46029A50C81A}"/>
              </a:ext>
            </a:extLst>
          </p:cNvPr>
          <p:cNvSpPr/>
          <p:nvPr/>
        </p:nvSpPr>
        <p:spPr>
          <a:xfrm>
            <a:off x="5735983" y="4509018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41.5%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34CE20BB-F8B1-4C16-9ACE-3DA2B335B8E4}"/>
              </a:ext>
            </a:extLst>
          </p:cNvPr>
          <p:cNvSpPr/>
          <p:nvPr/>
        </p:nvSpPr>
        <p:spPr>
          <a:xfrm>
            <a:off x="7690036" y="4509018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43.8%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6A946080-793E-4CE3-B1B7-EA2A406A48C4}"/>
              </a:ext>
            </a:extLst>
          </p:cNvPr>
          <p:cNvSpPr/>
          <p:nvPr/>
        </p:nvSpPr>
        <p:spPr>
          <a:xfrm>
            <a:off x="9513836" y="4509018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+150 bps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AFA76E2C-2D7F-4A47-8CAC-2569BD17BC2A}"/>
              </a:ext>
            </a:extLst>
          </p:cNvPr>
          <p:cNvSpPr/>
          <p:nvPr/>
        </p:nvSpPr>
        <p:spPr>
          <a:xfrm>
            <a:off x="11337635" y="4509018"/>
            <a:ext cx="14799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+230 bps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E40985CA-EE46-4BC9-8D73-67142C2E4827}"/>
              </a:ext>
            </a:extLst>
          </p:cNvPr>
          <p:cNvSpPr/>
          <p:nvPr/>
        </p:nvSpPr>
        <p:spPr>
          <a:xfrm>
            <a:off x="130401" y="4915259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EBITDA (₹ Cr)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71F2C32B-E808-423F-B29D-293851FCE9CC}"/>
              </a:ext>
            </a:extLst>
          </p:cNvPr>
          <p:cNvSpPr/>
          <p:nvPr/>
        </p:nvSpPr>
        <p:spPr>
          <a:xfrm>
            <a:off x="3781929" y="4915259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8.4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607A382F-0D05-407A-8EC9-499719A56903}"/>
              </a:ext>
            </a:extLst>
          </p:cNvPr>
          <p:cNvSpPr/>
          <p:nvPr/>
        </p:nvSpPr>
        <p:spPr>
          <a:xfrm>
            <a:off x="5735983" y="4915259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16.3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0EC5C5D7-DB8D-4DBA-802A-45C5826B4659}"/>
              </a:ext>
            </a:extLst>
          </p:cNvPr>
          <p:cNvSpPr/>
          <p:nvPr/>
        </p:nvSpPr>
        <p:spPr>
          <a:xfrm>
            <a:off x="7690036" y="4915259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26.9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A6B84AB7-342E-4A86-9886-992CEAE51388}"/>
              </a:ext>
            </a:extLst>
          </p:cNvPr>
          <p:cNvSpPr/>
          <p:nvPr/>
        </p:nvSpPr>
        <p:spPr>
          <a:xfrm>
            <a:off x="9513836" y="4915259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+94%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385DE50E-2352-40CD-B391-67DE7FEEE1D7}"/>
              </a:ext>
            </a:extLst>
          </p:cNvPr>
          <p:cNvSpPr/>
          <p:nvPr/>
        </p:nvSpPr>
        <p:spPr>
          <a:xfrm>
            <a:off x="11337635" y="4915259"/>
            <a:ext cx="14799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+65%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0C1A477F-7C07-48E5-91F9-22087F410267}"/>
              </a:ext>
            </a:extLst>
          </p:cNvPr>
          <p:cNvSpPr/>
          <p:nvPr/>
        </p:nvSpPr>
        <p:spPr>
          <a:xfrm>
            <a:off x="138021" y="5310428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8F44F90D-CBD1-4C71-8D4B-4F3254513B81}"/>
              </a:ext>
            </a:extLst>
          </p:cNvPr>
          <p:cNvSpPr/>
          <p:nvPr/>
        </p:nvSpPr>
        <p:spPr>
          <a:xfrm>
            <a:off x="130401" y="5321501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PAT (₹ Cr)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3F324048-6F6F-414C-8B09-C72966B4A59B}"/>
              </a:ext>
            </a:extLst>
          </p:cNvPr>
          <p:cNvSpPr/>
          <p:nvPr/>
        </p:nvSpPr>
        <p:spPr>
          <a:xfrm>
            <a:off x="3781929" y="5321501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2.1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7">
            <a:extLst>
              <a:ext uri="{FF2B5EF4-FFF2-40B4-BE49-F238E27FC236}">
                <a16:creationId xmlns:a16="http://schemas.microsoft.com/office/drawing/2014/main" id="{ECAEA799-0CD1-4101-AE0B-7DB3F9C39B11}"/>
              </a:ext>
            </a:extLst>
          </p:cNvPr>
          <p:cNvSpPr/>
          <p:nvPr/>
        </p:nvSpPr>
        <p:spPr>
          <a:xfrm>
            <a:off x="5735983" y="5321501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6.5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1C5675FA-5707-4C00-8246-E05F7CAFB3B0}"/>
              </a:ext>
            </a:extLst>
          </p:cNvPr>
          <p:cNvSpPr/>
          <p:nvPr/>
        </p:nvSpPr>
        <p:spPr>
          <a:xfrm>
            <a:off x="7690036" y="5321501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13.4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49">
            <a:extLst>
              <a:ext uri="{FF2B5EF4-FFF2-40B4-BE49-F238E27FC236}">
                <a16:creationId xmlns:a16="http://schemas.microsoft.com/office/drawing/2014/main" id="{675AEA72-51F4-46E9-9109-EBF5D87BE35F}"/>
              </a:ext>
            </a:extLst>
          </p:cNvPr>
          <p:cNvSpPr/>
          <p:nvPr/>
        </p:nvSpPr>
        <p:spPr>
          <a:xfrm>
            <a:off x="9513836" y="5321501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+210%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50">
            <a:extLst>
              <a:ext uri="{FF2B5EF4-FFF2-40B4-BE49-F238E27FC236}">
                <a16:creationId xmlns:a16="http://schemas.microsoft.com/office/drawing/2014/main" id="{8B4445F2-54A9-4F77-B2F1-8E35C1D51893}"/>
              </a:ext>
            </a:extLst>
          </p:cNvPr>
          <p:cNvSpPr/>
          <p:nvPr/>
        </p:nvSpPr>
        <p:spPr>
          <a:xfrm>
            <a:off x="11337635" y="5321501"/>
            <a:ext cx="14799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+106%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2">
            <a:extLst>
              <a:ext uri="{FF2B5EF4-FFF2-40B4-BE49-F238E27FC236}">
                <a16:creationId xmlns:a16="http://schemas.microsoft.com/office/drawing/2014/main" id="{CB48EC5E-C38D-4416-9CDC-D59282F59845}"/>
              </a:ext>
            </a:extLst>
          </p:cNvPr>
          <p:cNvSpPr/>
          <p:nvPr/>
        </p:nvSpPr>
        <p:spPr>
          <a:xfrm>
            <a:off x="130401" y="5727742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Debt/Equity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3">
            <a:extLst>
              <a:ext uri="{FF2B5EF4-FFF2-40B4-BE49-F238E27FC236}">
                <a16:creationId xmlns:a16="http://schemas.microsoft.com/office/drawing/2014/main" id="{F15D6F32-164A-4104-A4BF-BC0DCA693B62}"/>
              </a:ext>
            </a:extLst>
          </p:cNvPr>
          <p:cNvSpPr/>
          <p:nvPr/>
        </p:nvSpPr>
        <p:spPr>
          <a:xfrm>
            <a:off x="3781929" y="5727742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0.32x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4">
            <a:extLst>
              <a:ext uri="{FF2B5EF4-FFF2-40B4-BE49-F238E27FC236}">
                <a16:creationId xmlns:a16="http://schemas.microsoft.com/office/drawing/2014/main" id="{B72DA3C1-1C41-4887-8E6B-D8B995371C92}"/>
              </a:ext>
            </a:extLst>
          </p:cNvPr>
          <p:cNvSpPr/>
          <p:nvPr/>
        </p:nvSpPr>
        <p:spPr>
          <a:xfrm>
            <a:off x="5735983" y="5727742"/>
            <a:ext cx="16063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0.32x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55">
            <a:extLst>
              <a:ext uri="{FF2B5EF4-FFF2-40B4-BE49-F238E27FC236}">
                <a16:creationId xmlns:a16="http://schemas.microsoft.com/office/drawing/2014/main" id="{4C771728-DE4D-45DB-B61F-300DF1BF1FEE}"/>
              </a:ext>
            </a:extLst>
          </p:cNvPr>
          <p:cNvSpPr/>
          <p:nvPr/>
        </p:nvSpPr>
        <p:spPr>
          <a:xfrm>
            <a:off x="7690036" y="5727742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0.38x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56">
            <a:extLst>
              <a:ext uri="{FF2B5EF4-FFF2-40B4-BE49-F238E27FC236}">
                <a16:creationId xmlns:a16="http://schemas.microsoft.com/office/drawing/2014/main" id="{D8E39FBB-4FDB-4BD5-808A-19293D928589}"/>
              </a:ext>
            </a:extLst>
          </p:cNvPr>
          <p:cNvSpPr/>
          <p:nvPr/>
        </p:nvSpPr>
        <p:spPr>
          <a:xfrm>
            <a:off x="9513836" y="5727742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Stable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7">
            <a:extLst>
              <a:ext uri="{FF2B5EF4-FFF2-40B4-BE49-F238E27FC236}">
                <a16:creationId xmlns:a16="http://schemas.microsoft.com/office/drawing/2014/main" id="{0F547F35-47A5-4CE5-BC56-1CCEB3E07F56}"/>
              </a:ext>
            </a:extLst>
          </p:cNvPr>
          <p:cNvSpPr/>
          <p:nvPr/>
        </p:nvSpPr>
        <p:spPr>
          <a:xfrm>
            <a:off x="11337635" y="5727742"/>
            <a:ext cx="14799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Slight ↑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815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4E59AE0E-0248-4B5C-8951-58E577406182}"/>
              </a:ext>
            </a:extLst>
          </p:cNvPr>
          <p:cNvSpPr/>
          <p:nvPr/>
        </p:nvSpPr>
        <p:spPr>
          <a:xfrm>
            <a:off x="207722" y="258758"/>
            <a:ext cx="1441252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INTRINSIC VALUATION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D64F3E9-C920-4876-B0F8-8E82E52EA4D4}"/>
              </a:ext>
            </a:extLst>
          </p:cNvPr>
          <p:cNvSpPr/>
          <p:nvPr/>
        </p:nvSpPr>
        <p:spPr>
          <a:xfrm>
            <a:off x="444166" y="559637"/>
            <a:ext cx="62579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DCF Analysis — ₹84.5 per Share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0453769-567C-4A57-B575-ACB5E7EB8177}"/>
              </a:ext>
            </a:extLst>
          </p:cNvPr>
          <p:cNvSpPr/>
          <p:nvPr/>
        </p:nvSpPr>
        <p:spPr>
          <a:xfrm>
            <a:off x="345554" y="144222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WACC Components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076B9B3-0640-45C9-AF1F-80DA3E0B315B}"/>
              </a:ext>
            </a:extLst>
          </p:cNvPr>
          <p:cNvSpPr/>
          <p:nvPr/>
        </p:nvSpPr>
        <p:spPr>
          <a:xfrm>
            <a:off x="173729" y="1846477"/>
            <a:ext cx="6327815" cy="148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Risk-Free Rate:</a:t>
            </a: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 6.80%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ERP:</a:t>
            </a: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 7.00% | </a:t>
            </a: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Beta:</a:t>
            </a: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 0.75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Cost of Equity (CAPM):</a:t>
            </a: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 12.05%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After-Tax Cost of Debt:</a:t>
            </a: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 5.70%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D/V:</a:t>
            </a: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 10% | </a:t>
            </a: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E/V:</a:t>
            </a: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 90%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WACC:</a:t>
            </a: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 11.415%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230F62C-9DE8-4009-ACFD-0D823A1DB631}"/>
              </a:ext>
            </a:extLst>
          </p:cNvPr>
          <p:cNvSpPr/>
          <p:nvPr/>
        </p:nvSpPr>
        <p:spPr>
          <a:xfrm>
            <a:off x="112472" y="325758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EV → Equity Bridge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792E1A1-924B-4282-8E8A-FAAF9B8E5246}"/>
              </a:ext>
            </a:extLst>
          </p:cNvPr>
          <p:cNvSpPr/>
          <p:nvPr/>
        </p:nvSpPr>
        <p:spPr>
          <a:xfrm>
            <a:off x="112472" y="3616678"/>
            <a:ext cx="6327815" cy="148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PV of FCFs (FY25–29): ₹85.6 Cr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PV of Terminal Value (g=5%): ₹743.2 Cr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Enterprise Value: ₹828.8 Cr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(-) Net Debt (Post-IPO): (₹16 Cr)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Equity Value: ₹844.8 Cr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Shares: 10 Cr → </a:t>
            </a: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₹84.5 / Share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E308127-8678-483F-AAFC-73A34F75724E}"/>
              </a:ext>
            </a:extLst>
          </p:cNvPr>
          <p:cNvSpPr/>
          <p:nvPr/>
        </p:nvSpPr>
        <p:spPr>
          <a:xfrm>
            <a:off x="4701498" y="1396071"/>
            <a:ext cx="290048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484237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Free Cash Flow to Firm (₹ Cr)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45A51408-9944-48F1-B0D5-78055075CA59}"/>
              </a:ext>
            </a:extLst>
          </p:cNvPr>
          <p:cNvSpPr/>
          <p:nvPr/>
        </p:nvSpPr>
        <p:spPr>
          <a:xfrm>
            <a:off x="4701498" y="1769094"/>
            <a:ext cx="6327815" cy="4092893"/>
          </a:xfrm>
          <a:prstGeom prst="roundRect">
            <a:avLst>
              <a:gd name="adj" fmla="val 58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BB3F773D-D277-4DCD-9DDF-252A15920DDC}"/>
              </a:ext>
            </a:extLst>
          </p:cNvPr>
          <p:cNvSpPr/>
          <p:nvPr/>
        </p:nvSpPr>
        <p:spPr>
          <a:xfrm>
            <a:off x="4709118" y="1776714"/>
            <a:ext cx="6312575" cy="5805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E616705-4DD2-432A-A72E-0545518F52E0}"/>
              </a:ext>
            </a:extLst>
          </p:cNvPr>
          <p:cNvSpPr/>
          <p:nvPr/>
        </p:nvSpPr>
        <p:spPr>
          <a:xfrm>
            <a:off x="4868066" y="1851009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Line Item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39E4152-244E-4EA8-9342-47D71CEC1DCF}"/>
              </a:ext>
            </a:extLst>
          </p:cNvPr>
          <p:cNvSpPr/>
          <p:nvPr/>
        </p:nvSpPr>
        <p:spPr>
          <a:xfrm>
            <a:off x="7396834" y="1851009"/>
            <a:ext cx="43243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FY25E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DCA1BB6-10F8-4839-A802-5C5C7C9EA50B}"/>
              </a:ext>
            </a:extLst>
          </p:cNvPr>
          <p:cNvSpPr/>
          <p:nvPr/>
        </p:nvSpPr>
        <p:spPr>
          <a:xfrm>
            <a:off x="8154310" y="1851009"/>
            <a:ext cx="43243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FY26E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5563BEF-DDAA-41E5-A6F5-CD77F02344DF}"/>
              </a:ext>
            </a:extLst>
          </p:cNvPr>
          <p:cNvSpPr/>
          <p:nvPr/>
        </p:nvSpPr>
        <p:spPr>
          <a:xfrm>
            <a:off x="8911786" y="1851009"/>
            <a:ext cx="43243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FY27E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D780649-1786-4542-A163-11B16FFC5A00}"/>
              </a:ext>
            </a:extLst>
          </p:cNvPr>
          <p:cNvSpPr/>
          <p:nvPr/>
        </p:nvSpPr>
        <p:spPr>
          <a:xfrm>
            <a:off x="9669261" y="1851009"/>
            <a:ext cx="43243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FY28E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E1AA3DA-3FBB-4489-8F3D-AC8AB5C78259}"/>
              </a:ext>
            </a:extLst>
          </p:cNvPr>
          <p:cNvSpPr/>
          <p:nvPr/>
        </p:nvSpPr>
        <p:spPr>
          <a:xfrm>
            <a:off x="10426737" y="1851009"/>
            <a:ext cx="43624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FY29E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6F3B0F1E-058D-43D4-BEDF-411539091107}"/>
              </a:ext>
            </a:extLst>
          </p:cNvPr>
          <p:cNvSpPr/>
          <p:nvPr/>
        </p:nvSpPr>
        <p:spPr>
          <a:xfrm>
            <a:off x="4709118" y="2357263"/>
            <a:ext cx="6312575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3ED4165B-CC05-4D24-BD62-395B268627A7}"/>
              </a:ext>
            </a:extLst>
          </p:cNvPr>
          <p:cNvSpPr/>
          <p:nvPr/>
        </p:nvSpPr>
        <p:spPr>
          <a:xfrm>
            <a:off x="4868066" y="2431558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EBIT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A47B0D8C-7A98-48D8-8108-F4423D8749CC}"/>
              </a:ext>
            </a:extLst>
          </p:cNvPr>
          <p:cNvSpPr/>
          <p:nvPr/>
        </p:nvSpPr>
        <p:spPr>
          <a:xfrm>
            <a:off x="7396834" y="2431558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38.8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65BF5800-C1DD-4E3A-A757-80142F29C5E1}"/>
              </a:ext>
            </a:extLst>
          </p:cNvPr>
          <p:cNvSpPr/>
          <p:nvPr/>
        </p:nvSpPr>
        <p:spPr>
          <a:xfrm>
            <a:off x="8154310" y="2431558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59.5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A9196F40-7E3B-40D0-A948-EA953F19B306}"/>
              </a:ext>
            </a:extLst>
          </p:cNvPr>
          <p:cNvSpPr/>
          <p:nvPr/>
        </p:nvSpPr>
        <p:spPr>
          <a:xfrm>
            <a:off x="8911786" y="2431558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87.5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301C37E4-18BF-4C6B-A1F1-E9CA9629F702}"/>
              </a:ext>
            </a:extLst>
          </p:cNvPr>
          <p:cNvSpPr/>
          <p:nvPr/>
        </p:nvSpPr>
        <p:spPr>
          <a:xfrm>
            <a:off x="9669261" y="2431558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124.9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D0B37E35-DE5C-4DC5-9310-38B392BCF175}"/>
              </a:ext>
            </a:extLst>
          </p:cNvPr>
          <p:cNvSpPr/>
          <p:nvPr/>
        </p:nvSpPr>
        <p:spPr>
          <a:xfrm>
            <a:off x="10426737" y="2431558"/>
            <a:ext cx="43624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172.3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5264A127-F5D9-44A2-9493-E1CBC9EEFE57}"/>
              </a:ext>
            </a:extLst>
          </p:cNvPr>
          <p:cNvSpPr/>
          <p:nvPr/>
        </p:nvSpPr>
        <p:spPr>
          <a:xfrm>
            <a:off x="4709118" y="2721832"/>
            <a:ext cx="6312575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2DFD69AA-6B49-4587-860E-962BD5BD1631}"/>
              </a:ext>
            </a:extLst>
          </p:cNvPr>
          <p:cNvSpPr/>
          <p:nvPr/>
        </p:nvSpPr>
        <p:spPr>
          <a:xfrm>
            <a:off x="4868066" y="2796127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(-) Tax on EBIT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2E38F904-1950-45E6-8828-ECE062B9C477}"/>
              </a:ext>
            </a:extLst>
          </p:cNvPr>
          <p:cNvSpPr/>
          <p:nvPr/>
        </p:nvSpPr>
        <p:spPr>
          <a:xfrm>
            <a:off x="7396834" y="2796127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(9.7)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56AC196A-417C-4241-A183-A57172041688}"/>
              </a:ext>
            </a:extLst>
          </p:cNvPr>
          <p:cNvSpPr/>
          <p:nvPr/>
        </p:nvSpPr>
        <p:spPr>
          <a:xfrm>
            <a:off x="8154310" y="2796127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(14.9)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B51E30F6-F5F5-4425-ADEA-7072590C949C}"/>
              </a:ext>
            </a:extLst>
          </p:cNvPr>
          <p:cNvSpPr/>
          <p:nvPr/>
        </p:nvSpPr>
        <p:spPr>
          <a:xfrm>
            <a:off x="8911786" y="2796127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(21.9)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DF31DC0B-DBE3-440E-A438-EC0644F9786C}"/>
              </a:ext>
            </a:extLst>
          </p:cNvPr>
          <p:cNvSpPr/>
          <p:nvPr/>
        </p:nvSpPr>
        <p:spPr>
          <a:xfrm>
            <a:off x="9669261" y="2796127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(31.2)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D0EF33A4-63DE-4D4A-A2F9-E7ABA2EB6C06}"/>
              </a:ext>
            </a:extLst>
          </p:cNvPr>
          <p:cNvSpPr/>
          <p:nvPr/>
        </p:nvSpPr>
        <p:spPr>
          <a:xfrm>
            <a:off x="10426737" y="2796127"/>
            <a:ext cx="43624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(43.1)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744598EA-6290-4ADC-B246-B6FCD2FBFC5A}"/>
              </a:ext>
            </a:extLst>
          </p:cNvPr>
          <p:cNvSpPr/>
          <p:nvPr/>
        </p:nvSpPr>
        <p:spPr>
          <a:xfrm>
            <a:off x="4709118" y="3086402"/>
            <a:ext cx="6312575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3E3C8F2C-A302-46BF-BFF3-50A40886A351}"/>
              </a:ext>
            </a:extLst>
          </p:cNvPr>
          <p:cNvSpPr/>
          <p:nvPr/>
        </p:nvSpPr>
        <p:spPr>
          <a:xfrm>
            <a:off x="4868066" y="3160697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NOPAT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6D4A8076-B7FF-44F6-BFFF-0E83833673FE}"/>
              </a:ext>
            </a:extLst>
          </p:cNvPr>
          <p:cNvSpPr/>
          <p:nvPr/>
        </p:nvSpPr>
        <p:spPr>
          <a:xfrm>
            <a:off x="7396834" y="3160697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29.1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50AE24A-7578-4BD1-B71C-951E438C3754}"/>
              </a:ext>
            </a:extLst>
          </p:cNvPr>
          <p:cNvSpPr/>
          <p:nvPr/>
        </p:nvSpPr>
        <p:spPr>
          <a:xfrm>
            <a:off x="8154310" y="3160697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44.6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3BA01F23-4E20-4BD9-B559-91C17BB551B4}"/>
              </a:ext>
            </a:extLst>
          </p:cNvPr>
          <p:cNvSpPr/>
          <p:nvPr/>
        </p:nvSpPr>
        <p:spPr>
          <a:xfrm>
            <a:off x="8911786" y="3160697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65.7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3953FF04-E055-4CB9-972F-95157FE4773B}"/>
              </a:ext>
            </a:extLst>
          </p:cNvPr>
          <p:cNvSpPr/>
          <p:nvPr/>
        </p:nvSpPr>
        <p:spPr>
          <a:xfrm>
            <a:off x="9669261" y="3160697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93.7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CB14FEA7-CEC3-4054-9D9D-6DC958AEF052}"/>
              </a:ext>
            </a:extLst>
          </p:cNvPr>
          <p:cNvSpPr/>
          <p:nvPr/>
        </p:nvSpPr>
        <p:spPr>
          <a:xfrm>
            <a:off x="10426737" y="3160697"/>
            <a:ext cx="43624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129.2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216857B3-3D63-47C0-8956-3A4BE943F512}"/>
              </a:ext>
            </a:extLst>
          </p:cNvPr>
          <p:cNvSpPr/>
          <p:nvPr/>
        </p:nvSpPr>
        <p:spPr>
          <a:xfrm>
            <a:off x="4709118" y="3450971"/>
            <a:ext cx="6312575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B8837066-C6CF-4EFC-9012-5CEC1905F73C}"/>
              </a:ext>
            </a:extLst>
          </p:cNvPr>
          <p:cNvSpPr/>
          <p:nvPr/>
        </p:nvSpPr>
        <p:spPr>
          <a:xfrm>
            <a:off x="4868066" y="3525266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(+) D&amp;A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1EF624EE-E7DA-41AA-A4CE-22D1F439FB6C}"/>
              </a:ext>
            </a:extLst>
          </p:cNvPr>
          <p:cNvSpPr/>
          <p:nvPr/>
        </p:nvSpPr>
        <p:spPr>
          <a:xfrm>
            <a:off x="7396834" y="3525266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3.8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A6457770-D294-4B1A-AA69-25D37AB5790C}"/>
              </a:ext>
            </a:extLst>
          </p:cNvPr>
          <p:cNvSpPr/>
          <p:nvPr/>
        </p:nvSpPr>
        <p:spPr>
          <a:xfrm>
            <a:off x="8154310" y="3525266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5.4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6CE64D86-0A4E-4360-84BB-F927E0758517}"/>
              </a:ext>
            </a:extLst>
          </p:cNvPr>
          <p:cNvSpPr/>
          <p:nvPr/>
        </p:nvSpPr>
        <p:spPr>
          <a:xfrm>
            <a:off x="8911786" y="3525266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7.5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DB06E78A-3EE7-45E8-8BD0-92A15F558781}"/>
              </a:ext>
            </a:extLst>
          </p:cNvPr>
          <p:cNvSpPr/>
          <p:nvPr/>
        </p:nvSpPr>
        <p:spPr>
          <a:xfrm>
            <a:off x="9669261" y="3525266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9.7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9D6505FA-BA6B-46F7-A63B-CB7A8C2C8C3C}"/>
              </a:ext>
            </a:extLst>
          </p:cNvPr>
          <p:cNvSpPr/>
          <p:nvPr/>
        </p:nvSpPr>
        <p:spPr>
          <a:xfrm>
            <a:off x="10426737" y="3525266"/>
            <a:ext cx="43624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12.8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6">
            <a:extLst>
              <a:ext uri="{FF2B5EF4-FFF2-40B4-BE49-F238E27FC236}">
                <a16:creationId xmlns:a16="http://schemas.microsoft.com/office/drawing/2014/main" id="{9526865D-A278-4A66-B581-2E0A4EF77C40}"/>
              </a:ext>
            </a:extLst>
          </p:cNvPr>
          <p:cNvSpPr/>
          <p:nvPr/>
        </p:nvSpPr>
        <p:spPr>
          <a:xfrm>
            <a:off x="4709118" y="3815540"/>
            <a:ext cx="6312575" cy="5805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DCCD1067-7F70-468D-BF5A-43B53447C80B}"/>
              </a:ext>
            </a:extLst>
          </p:cNvPr>
          <p:cNvSpPr/>
          <p:nvPr/>
        </p:nvSpPr>
        <p:spPr>
          <a:xfrm>
            <a:off x="4868066" y="3889835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(-) Capex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F87D5E76-50FC-41A3-8688-1ECE0C0E106F}"/>
              </a:ext>
            </a:extLst>
          </p:cNvPr>
          <p:cNvSpPr/>
          <p:nvPr/>
        </p:nvSpPr>
        <p:spPr>
          <a:xfrm>
            <a:off x="7396834" y="3889835"/>
            <a:ext cx="43243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(28.4)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69D33D6E-978F-4800-AC67-6FF47825A49F}"/>
              </a:ext>
            </a:extLst>
          </p:cNvPr>
          <p:cNvSpPr/>
          <p:nvPr/>
        </p:nvSpPr>
        <p:spPr>
          <a:xfrm>
            <a:off x="8154310" y="3889835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(34.6)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0008F657-B6DF-477C-86CB-4BFC7909219C}"/>
              </a:ext>
            </a:extLst>
          </p:cNvPr>
          <p:cNvSpPr/>
          <p:nvPr/>
        </p:nvSpPr>
        <p:spPr>
          <a:xfrm>
            <a:off x="8911786" y="3889835"/>
            <a:ext cx="43243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(40.3)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8CACAEAF-31C4-495A-8C6F-29AE7031B41B}"/>
              </a:ext>
            </a:extLst>
          </p:cNvPr>
          <p:cNvSpPr/>
          <p:nvPr/>
        </p:nvSpPr>
        <p:spPr>
          <a:xfrm>
            <a:off x="9669261" y="3889835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(47.1)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F5E0A99A-2B33-49CF-9229-243BBE0C6756}"/>
              </a:ext>
            </a:extLst>
          </p:cNvPr>
          <p:cNvSpPr/>
          <p:nvPr/>
        </p:nvSpPr>
        <p:spPr>
          <a:xfrm>
            <a:off x="10426737" y="3889835"/>
            <a:ext cx="43624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(52.2)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26C16F4D-BD8F-4FF6-AA85-01DBEF05183A}"/>
              </a:ext>
            </a:extLst>
          </p:cNvPr>
          <p:cNvSpPr/>
          <p:nvPr/>
        </p:nvSpPr>
        <p:spPr>
          <a:xfrm>
            <a:off x="4709118" y="4396089"/>
            <a:ext cx="6312575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77350241-75FE-4BE1-8464-E046D9CA4AB6}"/>
              </a:ext>
            </a:extLst>
          </p:cNvPr>
          <p:cNvSpPr/>
          <p:nvPr/>
        </p:nvSpPr>
        <p:spPr>
          <a:xfrm>
            <a:off x="4868066" y="4470384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(-) ΔWorking Capital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05F8D92D-DE80-47E2-8B52-6E7D52DB0DF9}"/>
              </a:ext>
            </a:extLst>
          </p:cNvPr>
          <p:cNvSpPr/>
          <p:nvPr/>
        </p:nvSpPr>
        <p:spPr>
          <a:xfrm>
            <a:off x="7396834" y="4470384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(11.9)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6">
            <a:extLst>
              <a:ext uri="{FF2B5EF4-FFF2-40B4-BE49-F238E27FC236}">
                <a16:creationId xmlns:a16="http://schemas.microsoft.com/office/drawing/2014/main" id="{B2F6532F-0E41-4E86-AC4B-80C0F039EE7D}"/>
              </a:ext>
            </a:extLst>
          </p:cNvPr>
          <p:cNvSpPr/>
          <p:nvPr/>
        </p:nvSpPr>
        <p:spPr>
          <a:xfrm>
            <a:off x="8154310" y="4470384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(11.9)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23AC7F30-3751-4508-835B-B43A59FBBAD7}"/>
              </a:ext>
            </a:extLst>
          </p:cNvPr>
          <p:cNvSpPr/>
          <p:nvPr/>
        </p:nvSpPr>
        <p:spPr>
          <a:xfrm>
            <a:off x="8911786" y="4470384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(11.9)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58">
            <a:extLst>
              <a:ext uri="{FF2B5EF4-FFF2-40B4-BE49-F238E27FC236}">
                <a16:creationId xmlns:a16="http://schemas.microsoft.com/office/drawing/2014/main" id="{B5AAD2E3-1BBB-43F0-8C9C-3EF962DE1425}"/>
              </a:ext>
            </a:extLst>
          </p:cNvPr>
          <p:cNvSpPr/>
          <p:nvPr/>
        </p:nvSpPr>
        <p:spPr>
          <a:xfrm>
            <a:off x="9669261" y="4470384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(11.9)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F4595570-66B6-4BBA-BA92-DF3A828E8409}"/>
              </a:ext>
            </a:extLst>
          </p:cNvPr>
          <p:cNvSpPr/>
          <p:nvPr/>
        </p:nvSpPr>
        <p:spPr>
          <a:xfrm>
            <a:off x="10426737" y="4470384"/>
            <a:ext cx="43624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(11.9)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60">
            <a:extLst>
              <a:ext uri="{FF2B5EF4-FFF2-40B4-BE49-F238E27FC236}">
                <a16:creationId xmlns:a16="http://schemas.microsoft.com/office/drawing/2014/main" id="{C2A1D05F-3A00-437B-A309-B079ABC386F3}"/>
              </a:ext>
            </a:extLst>
          </p:cNvPr>
          <p:cNvSpPr/>
          <p:nvPr/>
        </p:nvSpPr>
        <p:spPr>
          <a:xfrm>
            <a:off x="4709118" y="4760659"/>
            <a:ext cx="6312575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6" name="Text 61">
            <a:extLst>
              <a:ext uri="{FF2B5EF4-FFF2-40B4-BE49-F238E27FC236}">
                <a16:creationId xmlns:a16="http://schemas.microsoft.com/office/drawing/2014/main" id="{A5F58BC0-D939-4FD0-AD48-5ECEA117D9F8}"/>
              </a:ext>
            </a:extLst>
          </p:cNvPr>
          <p:cNvSpPr/>
          <p:nvPr/>
        </p:nvSpPr>
        <p:spPr>
          <a:xfrm>
            <a:off x="4868066" y="4834954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FCFF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62">
            <a:extLst>
              <a:ext uri="{FF2B5EF4-FFF2-40B4-BE49-F238E27FC236}">
                <a16:creationId xmlns:a16="http://schemas.microsoft.com/office/drawing/2014/main" id="{F66CF9BC-3154-4003-A5B1-7C492B4C55CB}"/>
              </a:ext>
            </a:extLst>
          </p:cNvPr>
          <p:cNvSpPr/>
          <p:nvPr/>
        </p:nvSpPr>
        <p:spPr>
          <a:xfrm>
            <a:off x="7396834" y="4834954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(7.4)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4C18B2B2-9EC9-4689-B7B3-733FE5128B24}"/>
              </a:ext>
            </a:extLst>
          </p:cNvPr>
          <p:cNvSpPr/>
          <p:nvPr/>
        </p:nvSpPr>
        <p:spPr>
          <a:xfrm>
            <a:off x="8154310" y="4834954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3.5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64">
            <a:extLst>
              <a:ext uri="{FF2B5EF4-FFF2-40B4-BE49-F238E27FC236}">
                <a16:creationId xmlns:a16="http://schemas.microsoft.com/office/drawing/2014/main" id="{64C807E3-A3AF-434C-B7D3-3F675F0E9FC9}"/>
              </a:ext>
            </a:extLst>
          </p:cNvPr>
          <p:cNvSpPr/>
          <p:nvPr/>
        </p:nvSpPr>
        <p:spPr>
          <a:xfrm>
            <a:off x="8911786" y="4834954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20.9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65">
            <a:extLst>
              <a:ext uri="{FF2B5EF4-FFF2-40B4-BE49-F238E27FC236}">
                <a16:creationId xmlns:a16="http://schemas.microsoft.com/office/drawing/2014/main" id="{C70D3DBD-37FF-40A5-B455-BB3FD1396A1F}"/>
              </a:ext>
            </a:extLst>
          </p:cNvPr>
          <p:cNvSpPr/>
          <p:nvPr/>
        </p:nvSpPr>
        <p:spPr>
          <a:xfrm>
            <a:off x="9669261" y="4834954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44.4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6">
            <a:extLst>
              <a:ext uri="{FF2B5EF4-FFF2-40B4-BE49-F238E27FC236}">
                <a16:creationId xmlns:a16="http://schemas.microsoft.com/office/drawing/2014/main" id="{E0787DE4-B081-46CC-9D7A-55E6BC8CBF96}"/>
              </a:ext>
            </a:extLst>
          </p:cNvPr>
          <p:cNvSpPr/>
          <p:nvPr/>
        </p:nvSpPr>
        <p:spPr>
          <a:xfrm>
            <a:off x="10426737" y="4834954"/>
            <a:ext cx="43624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77.9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7">
            <a:extLst>
              <a:ext uri="{FF2B5EF4-FFF2-40B4-BE49-F238E27FC236}">
                <a16:creationId xmlns:a16="http://schemas.microsoft.com/office/drawing/2014/main" id="{3CA5CDD3-08BC-4940-AB6D-6E78B7EF64CC}"/>
              </a:ext>
            </a:extLst>
          </p:cNvPr>
          <p:cNvSpPr/>
          <p:nvPr/>
        </p:nvSpPr>
        <p:spPr>
          <a:xfrm>
            <a:off x="4709118" y="5125228"/>
            <a:ext cx="6312575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3" name="Text 68">
            <a:extLst>
              <a:ext uri="{FF2B5EF4-FFF2-40B4-BE49-F238E27FC236}">
                <a16:creationId xmlns:a16="http://schemas.microsoft.com/office/drawing/2014/main" id="{24C9E404-436A-42CA-AB1C-1421883BCD0B}"/>
              </a:ext>
            </a:extLst>
          </p:cNvPr>
          <p:cNvSpPr/>
          <p:nvPr/>
        </p:nvSpPr>
        <p:spPr>
          <a:xfrm>
            <a:off x="4868066" y="5199523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PV Factor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69">
            <a:extLst>
              <a:ext uri="{FF2B5EF4-FFF2-40B4-BE49-F238E27FC236}">
                <a16:creationId xmlns:a16="http://schemas.microsoft.com/office/drawing/2014/main" id="{39E7B102-7D7F-4D21-9C7E-E06EA49BFA97}"/>
              </a:ext>
            </a:extLst>
          </p:cNvPr>
          <p:cNvSpPr/>
          <p:nvPr/>
        </p:nvSpPr>
        <p:spPr>
          <a:xfrm>
            <a:off x="7396834" y="5199523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0.898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70">
            <a:extLst>
              <a:ext uri="{FF2B5EF4-FFF2-40B4-BE49-F238E27FC236}">
                <a16:creationId xmlns:a16="http://schemas.microsoft.com/office/drawing/2014/main" id="{25EEC355-6FC7-45FA-9975-ED66F9F5C462}"/>
              </a:ext>
            </a:extLst>
          </p:cNvPr>
          <p:cNvSpPr/>
          <p:nvPr/>
        </p:nvSpPr>
        <p:spPr>
          <a:xfrm>
            <a:off x="8154310" y="5199523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0.806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1">
            <a:extLst>
              <a:ext uri="{FF2B5EF4-FFF2-40B4-BE49-F238E27FC236}">
                <a16:creationId xmlns:a16="http://schemas.microsoft.com/office/drawing/2014/main" id="{F3659EF7-5FBA-42D2-8B1F-BCC26E627B49}"/>
              </a:ext>
            </a:extLst>
          </p:cNvPr>
          <p:cNvSpPr/>
          <p:nvPr/>
        </p:nvSpPr>
        <p:spPr>
          <a:xfrm>
            <a:off x="8911786" y="5199523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0.723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72">
            <a:extLst>
              <a:ext uri="{FF2B5EF4-FFF2-40B4-BE49-F238E27FC236}">
                <a16:creationId xmlns:a16="http://schemas.microsoft.com/office/drawing/2014/main" id="{36537D66-417D-436B-BE35-BF1FB45A23CC}"/>
              </a:ext>
            </a:extLst>
          </p:cNvPr>
          <p:cNvSpPr/>
          <p:nvPr/>
        </p:nvSpPr>
        <p:spPr>
          <a:xfrm>
            <a:off x="9669261" y="5199523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0.649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73">
            <a:extLst>
              <a:ext uri="{FF2B5EF4-FFF2-40B4-BE49-F238E27FC236}">
                <a16:creationId xmlns:a16="http://schemas.microsoft.com/office/drawing/2014/main" id="{7BE06EC6-1455-4D62-AB23-9CB7120C0999}"/>
              </a:ext>
            </a:extLst>
          </p:cNvPr>
          <p:cNvSpPr/>
          <p:nvPr/>
        </p:nvSpPr>
        <p:spPr>
          <a:xfrm>
            <a:off x="10426737" y="5199523"/>
            <a:ext cx="43624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0.582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Shape 74">
            <a:extLst>
              <a:ext uri="{FF2B5EF4-FFF2-40B4-BE49-F238E27FC236}">
                <a16:creationId xmlns:a16="http://schemas.microsoft.com/office/drawing/2014/main" id="{76516713-6001-4BA3-A945-4F1DECDC4018}"/>
              </a:ext>
            </a:extLst>
          </p:cNvPr>
          <p:cNvSpPr/>
          <p:nvPr/>
        </p:nvSpPr>
        <p:spPr>
          <a:xfrm>
            <a:off x="4709118" y="5489797"/>
            <a:ext cx="6312575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0" name="Text 75">
            <a:extLst>
              <a:ext uri="{FF2B5EF4-FFF2-40B4-BE49-F238E27FC236}">
                <a16:creationId xmlns:a16="http://schemas.microsoft.com/office/drawing/2014/main" id="{EA4F8E5C-2F03-4219-8D1F-9F9F3D20DEEE}"/>
              </a:ext>
            </a:extLst>
          </p:cNvPr>
          <p:cNvSpPr/>
          <p:nvPr/>
        </p:nvSpPr>
        <p:spPr>
          <a:xfrm>
            <a:off x="4868066" y="5564092"/>
            <a:ext cx="220372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PV of FCFF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51C72763-244D-4EEF-9DB5-1E62A9895B73}"/>
              </a:ext>
            </a:extLst>
          </p:cNvPr>
          <p:cNvSpPr/>
          <p:nvPr/>
        </p:nvSpPr>
        <p:spPr>
          <a:xfrm>
            <a:off x="7396834" y="5564092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(6.6)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 77">
            <a:extLst>
              <a:ext uri="{FF2B5EF4-FFF2-40B4-BE49-F238E27FC236}">
                <a16:creationId xmlns:a16="http://schemas.microsoft.com/office/drawing/2014/main" id="{350716EE-9D2D-4A32-A27D-022A1FD07A6F}"/>
              </a:ext>
            </a:extLst>
          </p:cNvPr>
          <p:cNvSpPr/>
          <p:nvPr/>
        </p:nvSpPr>
        <p:spPr>
          <a:xfrm>
            <a:off x="8154310" y="5564092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2.8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78">
            <a:extLst>
              <a:ext uri="{FF2B5EF4-FFF2-40B4-BE49-F238E27FC236}">
                <a16:creationId xmlns:a16="http://schemas.microsoft.com/office/drawing/2014/main" id="{0A501293-3897-4F7B-9CE2-07CE9AE4D293}"/>
              </a:ext>
            </a:extLst>
          </p:cNvPr>
          <p:cNvSpPr/>
          <p:nvPr/>
        </p:nvSpPr>
        <p:spPr>
          <a:xfrm>
            <a:off x="8911786" y="5564092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15.1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 79">
            <a:extLst>
              <a:ext uri="{FF2B5EF4-FFF2-40B4-BE49-F238E27FC236}">
                <a16:creationId xmlns:a16="http://schemas.microsoft.com/office/drawing/2014/main" id="{610C6464-E9D5-48B9-B8EA-C8CDE841DC53}"/>
              </a:ext>
            </a:extLst>
          </p:cNvPr>
          <p:cNvSpPr/>
          <p:nvPr/>
        </p:nvSpPr>
        <p:spPr>
          <a:xfrm>
            <a:off x="9669261" y="5564092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28.8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0">
            <a:extLst>
              <a:ext uri="{FF2B5EF4-FFF2-40B4-BE49-F238E27FC236}">
                <a16:creationId xmlns:a16="http://schemas.microsoft.com/office/drawing/2014/main" id="{3013D4D4-D71E-410C-86B5-F84698D28AA8}"/>
              </a:ext>
            </a:extLst>
          </p:cNvPr>
          <p:cNvSpPr/>
          <p:nvPr/>
        </p:nvSpPr>
        <p:spPr>
          <a:xfrm>
            <a:off x="10426737" y="5564092"/>
            <a:ext cx="43624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45.4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216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B9B23EBE-CD9D-4F2B-8CC3-2A51381EE479}"/>
              </a:ext>
            </a:extLst>
          </p:cNvPr>
          <p:cNvSpPr/>
          <p:nvPr/>
        </p:nvSpPr>
        <p:spPr>
          <a:xfrm>
            <a:off x="122396" y="145740"/>
            <a:ext cx="184642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SENSITIVITY ANALYSIS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68B47E3-9A1C-4D3A-BB5F-7E3FC9BA32CB}"/>
              </a:ext>
            </a:extLst>
          </p:cNvPr>
          <p:cNvSpPr/>
          <p:nvPr/>
        </p:nvSpPr>
        <p:spPr>
          <a:xfrm>
            <a:off x="226933" y="468015"/>
            <a:ext cx="11456894" cy="701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DCF Sensitivity — Implied Share Price (₹) | WACC vs. Terminal Growth Rate</a:t>
            </a:r>
            <a:endParaRPr lang="en-US" sz="2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C5BC5D4-A68B-455D-A809-96ECA21BB777}"/>
              </a:ext>
            </a:extLst>
          </p:cNvPr>
          <p:cNvSpPr/>
          <p:nvPr/>
        </p:nvSpPr>
        <p:spPr>
          <a:xfrm>
            <a:off x="226933" y="1214192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Base case: WACC 11.4%, g = 5.0%. </a:t>
            </a:r>
            <a:r>
              <a:rPr lang="en-US" sz="14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84% of 20 scenarios return value above ₹66 IPO price</a:t>
            </a: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 — asymmetric risk-reward.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7913527-066E-4BBA-A1FC-810AE8AE124F}"/>
              </a:ext>
            </a:extLst>
          </p:cNvPr>
          <p:cNvSpPr/>
          <p:nvPr/>
        </p:nvSpPr>
        <p:spPr>
          <a:xfrm>
            <a:off x="229416" y="2004543"/>
            <a:ext cx="219348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WACC \ g →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E60CE98-AA0B-4B75-B401-999BF4A2B464}"/>
              </a:ext>
            </a:extLst>
          </p:cNvPr>
          <p:cNvSpPr/>
          <p:nvPr/>
        </p:nvSpPr>
        <p:spPr>
          <a:xfrm>
            <a:off x="2838671" y="2004543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3.0%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AB090FD-76F2-4F3A-BA56-BC5E174A81E7}"/>
              </a:ext>
            </a:extLst>
          </p:cNvPr>
          <p:cNvSpPr/>
          <p:nvPr/>
        </p:nvSpPr>
        <p:spPr>
          <a:xfrm>
            <a:off x="4922979" y="2004543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4.0%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9692D19-EFE2-405C-BBD5-9E14EAE8638A}"/>
              </a:ext>
            </a:extLst>
          </p:cNvPr>
          <p:cNvSpPr/>
          <p:nvPr/>
        </p:nvSpPr>
        <p:spPr>
          <a:xfrm>
            <a:off x="7007287" y="2004543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5.0%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C0ABBC8-6FCC-47A5-B32D-9975D91E2958}"/>
              </a:ext>
            </a:extLst>
          </p:cNvPr>
          <p:cNvSpPr/>
          <p:nvPr/>
        </p:nvSpPr>
        <p:spPr>
          <a:xfrm>
            <a:off x="9091595" y="2004543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6.0%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1CB70EA-A1BE-4C9C-9115-1C3996BA0C4A}"/>
              </a:ext>
            </a:extLst>
          </p:cNvPr>
          <p:cNvSpPr/>
          <p:nvPr/>
        </p:nvSpPr>
        <p:spPr>
          <a:xfrm>
            <a:off x="229416" y="2550326"/>
            <a:ext cx="219348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9.0%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CD1F35C-9290-4E1F-AECF-8A6E34598C03}"/>
              </a:ext>
            </a:extLst>
          </p:cNvPr>
          <p:cNvSpPr/>
          <p:nvPr/>
        </p:nvSpPr>
        <p:spPr>
          <a:xfrm>
            <a:off x="2838671" y="2550326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₹120.7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EEECEDB-F7AE-4565-9E0A-238A960B2C32}"/>
              </a:ext>
            </a:extLst>
          </p:cNvPr>
          <p:cNvSpPr/>
          <p:nvPr/>
        </p:nvSpPr>
        <p:spPr>
          <a:xfrm>
            <a:off x="4922979" y="2550326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₹149.4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CD0081C-B518-46B4-8873-E43A21A03BD6}"/>
              </a:ext>
            </a:extLst>
          </p:cNvPr>
          <p:cNvSpPr/>
          <p:nvPr/>
        </p:nvSpPr>
        <p:spPr>
          <a:xfrm>
            <a:off x="7007287" y="2550326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₹197.1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4A479D9-DDD2-4CB2-9E14-E11FAFFA6420}"/>
              </a:ext>
            </a:extLst>
          </p:cNvPr>
          <p:cNvSpPr/>
          <p:nvPr/>
        </p:nvSpPr>
        <p:spPr>
          <a:xfrm>
            <a:off x="9091595" y="2550326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₹292.6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AD8A23CF-6DA4-499A-A05D-29BDCB4823EB}"/>
              </a:ext>
            </a:extLst>
          </p:cNvPr>
          <p:cNvSpPr/>
          <p:nvPr/>
        </p:nvSpPr>
        <p:spPr>
          <a:xfrm>
            <a:off x="229416" y="3096108"/>
            <a:ext cx="219348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10.0%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073FF21-1C86-4FA1-90EB-7768791A7B8B}"/>
              </a:ext>
            </a:extLst>
          </p:cNvPr>
          <p:cNvSpPr/>
          <p:nvPr/>
        </p:nvSpPr>
        <p:spPr>
          <a:xfrm>
            <a:off x="2838671" y="3096108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₹98.0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2D8DDF2A-4A40-4E6F-BB1D-C6C9C2E324BD}"/>
              </a:ext>
            </a:extLst>
          </p:cNvPr>
          <p:cNvSpPr/>
          <p:nvPr/>
        </p:nvSpPr>
        <p:spPr>
          <a:xfrm>
            <a:off x="4922979" y="3096108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₹116.4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12B8BEC4-60DA-4163-A193-E5CDAB64B406}"/>
              </a:ext>
            </a:extLst>
          </p:cNvPr>
          <p:cNvSpPr/>
          <p:nvPr/>
        </p:nvSpPr>
        <p:spPr>
          <a:xfrm>
            <a:off x="7007287" y="3096108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₹144.0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98A63AC8-1B4B-4F64-8E9B-89FC9FECD805}"/>
              </a:ext>
            </a:extLst>
          </p:cNvPr>
          <p:cNvSpPr/>
          <p:nvPr/>
        </p:nvSpPr>
        <p:spPr>
          <a:xfrm>
            <a:off x="9091595" y="3096108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₹190.1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D7C1AE59-DD3F-4BED-A09C-D0402B3CD71C}"/>
              </a:ext>
            </a:extLst>
          </p:cNvPr>
          <p:cNvSpPr/>
          <p:nvPr/>
        </p:nvSpPr>
        <p:spPr>
          <a:xfrm>
            <a:off x="229416" y="3641891"/>
            <a:ext cx="219348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11.0%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08A8D4D-B973-4FD6-B155-69B7D3CA28BC}"/>
              </a:ext>
            </a:extLst>
          </p:cNvPr>
          <p:cNvSpPr/>
          <p:nvPr/>
        </p:nvSpPr>
        <p:spPr>
          <a:xfrm>
            <a:off x="2838671" y="3641891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₹81.9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37A23A4-9D2E-4E77-B017-FD413A49C4FF}"/>
              </a:ext>
            </a:extLst>
          </p:cNvPr>
          <p:cNvSpPr/>
          <p:nvPr/>
        </p:nvSpPr>
        <p:spPr>
          <a:xfrm>
            <a:off x="4922979" y="3641891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₹94.6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FE8E1E33-E953-4F26-B784-F780F014526B}"/>
              </a:ext>
            </a:extLst>
          </p:cNvPr>
          <p:cNvSpPr/>
          <p:nvPr/>
        </p:nvSpPr>
        <p:spPr>
          <a:xfrm>
            <a:off x="7007287" y="3641891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₹112.3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A6C37784-6026-417A-BD2A-C2A69BDDC399}"/>
              </a:ext>
            </a:extLst>
          </p:cNvPr>
          <p:cNvSpPr/>
          <p:nvPr/>
        </p:nvSpPr>
        <p:spPr>
          <a:xfrm>
            <a:off x="9091595" y="3641891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₹138.9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0CC0DE24-FDC1-464D-A02B-40E031D3244B}"/>
              </a:ext>
            </a:extLst>
          </p:cNvPr>
          <p:cNvSpPr/>
          <p:nvPr/>
        </p:nvSpPr>
        <p:spPr>
          <a:xfrm>
            <a:off x="229416" y="4187673"/>
            <a:ext cx="219348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12.0%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7B1034B0-B9E0-4D97-9F9A-2D65C6EFCB0B}"/>
              </a:ext>
            </a:extLst>
          </p:cNvPr>
          <p:cNvSpPr/>
          <p:nvPr/>
        </p:nvSpPr>
        <p:spPr>
          <a:xfrm>
            <a:off x="2838671" y="4187673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₹60.6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15375CE5-4AF0-4BC3-8E61-06102592C213}"/>
              </a:ext>
            </a:extLst>
          </p:cNvPr>
          <p:cNvSpPr/>
          <p:nvPr/>
        </p:nvSpPr>
        <p:spPr>
          <a:xfrm>
            <a:off x="4922979" y="4187673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₹67.5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04D8D4BF-88A8-4A97-8C20-F345F846B677}"/>
              </a:ext>
            </a:extLst>
          </p:cNvPr>
          <p:cNvSpPr/>
          <p:nvPr/>
        </p:nvSpPr>
        <p:spPr>
          <a:xfrm>
            <a:off x="7007287" y="4187673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₹76.3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41DE847F-10A0-491D-B1A2-807BF4DC4D91}"/>
              </a:ext>
            </a:extLst>
          </p:cNvPr>
          <p:cNvSpPr/>
          <p:nvPr/>
        </p:nvSpPr>
        <p:spPr>
          <a:xfrm>
            <a:off x="9091595" y="4187673"/>
            <a:ext cx="16685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₹88.1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9FF3BAFD-1AD9-4A49-998B-3300D293B012}"/>
              </a:ext>
            </a:extLst>
          </p:cNvPr>
          <p:cNvSpPr/>
          <p:nvPr/>
        </p:nvSpPr>
        <p:spPr>
          <a:xfrm>
            <a:off x="70246" y="4798358"/>
            <a:ext cx="4225052" cy="1503402"/>
          </a:xfrm>
          <a:prstGeom prst="roundRect">
            <a:avLst>
              <a:gd name="adj" fmla="val 203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24BADE25-DFC1-499A-BB02-A8D6541691C9}"/>
              </a:ext>
            </a:extLst>
          </p:cNvPr>
          <p:cNvSpPr/>
          <p:nvPr/>
        </p:nvSpPr>
        <p:spPr>
          <a:xfrm>
            <a:off x="226933" y="50073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Base Case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2836591C-A029-4A02-A134-ECDF2D69B415}"/>
              </a:ext>
            </a:extLst>
          </p:cNvPr>
          <p:cNvSpPr/>
          <p:nvPr/>
        </p:nvSpPr>
        <p:spPr>
          <a:xfrm>
            <a:off x="226933" y="5436345"/>
            <a:ext cx="377118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WACC 11%, g 5% → ₹91.3/share, 38% premium to IPO price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E3E56AD8-D0E7-4DAA-B679-D8D13CF4ADB5}"/>
              </a:ext>
            </a:extLst>
          </p:cNvPr>
          <p:cNvSpPr/>
          <p:nvPr/>
        </p:nvSpPr>
        <p:spPr>
          <a:xfrm>
            <a:off x="4408766" y="4780429"/>
            <a:ext cx="4225171" cy="1503402"/>
          </a:xfrm>
          <a:prstGeom prst="roundRect">
            <a:avLst>
              <a:gd name="adj" fmla="val 203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B5DFAF1E-A0B9-45C6-AAB0-66BF50E98DD4}"/>
              </a:ext>
            </a:extLst>
          </p:cNvPr>
          <p:cNvSpPr/>
          <p:nvPr/>
        </p:nvSpPr>
        <p:spPr>
          <a:xfrm>
            <a:off x="4635698" y="50073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Bear Case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C53136F7-9292-4181-9512-33D5D5D9FCCC}"/>
              </a:ext>
            </a:extLst>
          </p:cNvPr>
          <p:cNvSpPr/>
          <p:nvPr/>
        </p:nvSpPr>
        <p:spPr>
          <a:xfrm>
            <a:off x="4635698" y="5436345"/>
            <a:ext cx="3771305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WACC 12%, g 3% → ₹60.6, only 8% downside to ₹66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6">
            <a:extLst>
              <a:ext uri="{FF2B5EF4-FFF2-40B4-BE49-F238E27FC236}">
                <a16:creationId xmlns:a16="http://schemas.microsoft.com/office/drawing/2014/main" id="{6AC4F509-A8F5-4ECA-BFF8-C08CE02F8370}"/>
              </a:ext>
            </a:extLst>
          </p:cNvPr>
          <p:cNvSpPr/>
          <p:nvPr/>
        </p:nvSpPr>
        <p:spPr>
          <a:xfrm>
            <a:off x="8817650" y="4780429"/>
            <a:ext cx="3147418" cy="1503402"/>
          </a:xfrm>
          <a:prstGeom prst="roundRect">
            <a:avLst>
              <a:gd name="adj" fmla="val 203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51" name="Text 47">
            <a:extLst>
              <a:ext uri="{FF2B5EF4-FFF2-40B4-BE49-F238E27FC236}">
                <a16:creationId xmlns:a16="http://schemas.microsoft.com/office/drawing/2014/main" id="{D2E668C0-3FDA-4E9C-A2B5-7BACFB91F2CD}"/>
              </a:ext>
            </a:extLst>
          </p:cNvPr>
          <p:cNvSpPr/>
          <p:nvPr/>
        </p:nvSpPr>
        <p:spPr>
          <a:xfrm>
            <a:off x="9044583" y="50073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Arial" panose="020B0604020202020204" pitchFamily="34" charset="0"/>
                <a:ea typeface="Gelasio Semi Bold" pitchFamily="34" charset="-122"/>
                <a:cs typeface="Arial" panose="020B0604020202020204" pitchFamily="34" charset="0"/>
              </a:rPr>
              <a:t>Bull Case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F532FBE2-35C1-422D-A9FC-7CCECEE9AB55}"/>
              </a:ext>
            </a:extLst>
          </p:cNvPr>
          <p:cNvSpPr/>
          <p:nvPr/>
        </p:nvSpPr>
        <p:spPr>
          <a:xfrm>
            <a:off x="9044583" y="5436345"/>
            <a:ext cx="377130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Arial" panose="020B0604020202020204" pitchFamily="34" charset="0"/>
                <a:ea typeface="Gelasio" pitchFamily="34" charset="-122"/>
                <a:cs typeface="Arial" panose="020B0604020202020204" pitchFamily="34" charset="0"/>
              </a:rPr>
              <a:t>WACC 8%, g 6% → ₹292.6, 4.4x IPO price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26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28F6173-D083-4E3B-9A02-84976B6FE4DF}"/>
              </a:ext>
            </a:extLst>
          </p:cNvPr>
          <p:cNvSpPr/>
          <p:nvPr/>
        </p:nvSpPr>
        <p:spPr>
          <a:xfrm>
            <a:off x="460274" y="355649"/>
            <a:ext cx="3525203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RECOMMENDATION:  SUBSCRIBE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5C31005-53EE-403C-9F66-E40E90847017}"/>
              </a:ext>
            </a:extLst>
          </p:cNvPr>
          <p:cNvSpPr/>
          <p:nvPr/>
        </p:nvSpPr>
        <p:spPr>
          <a:xfrm>
            <a:off x="368676" y="896953"/>
            <a:ext cx="3525203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₹132</a:t>
            </a:r>
            <a:endParaRPr lang="en-US" sz="2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4DD181F-F6A2-4CBB-8FC8-981E150932BE}"/>
              </a:ext>
            </a:extLst>
          </p:cNvPr>
          <p:cNvSpPr/>
          <p:nvPr/>
        </p:nvSpPr>
        <p:spPr>
          <a:xfrm>
            <a:off x="1555371" y="1242983"/>
            <a:ext cx="1151811" cy="143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Weighted Target Price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6E2546A-2E40-400B-BA25-7BA6F63E7354}"/>
              </a:ext>
            </a:extLst>
          </p:cNvPr>
          <p:cNvSpPr/>
          <p:nvPr/>
        </p:nvSpPr>
        <p:spPr>
          <a:xfrm>
            <a:off x="3349244" y="930371"/>
            <a:ext cx="4417219" cy="30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~100%</a:t>
            </a:r>
            <a:endParaRPr lang="en-US" sz="2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1975EA9-5419-4B7F-B917-6EE8A2FFB5A8}"/>
              </a:ext>
            </a:extLst>
          </p:cNvPr>
          <p:cNvSpPr/>
          <p:nvPr/>
        </p:nvSpPr>
        <p:spPr>
          <a:xfrm>
            <a:off x="4972144" y="1267875"/>
            <a:ext cx="1358027" cy="143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Blended Upside to IPO Price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AC8F44A-E8D6-4C27-B762-984A1B2A0301}"/>
              </a:ext>
            </a:extLst>
          </p:cNvPr>
          <p:cNvSpPr/>
          <p:nvPr/>
        </p:nvSpPr>
        <p:spPr>
          <a:xfrm>
            <a:off x="-77274" y="1792625"/>
            <a:ext cx="4417100" cy="30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₹66–₹93</a:t>
            </a:r>
            <a:endParaRPr lang="en-US" sz="2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1C9DA08-D0F3-4023-96DB-4D427D8F6324}"/>
              </a:ext>
            </a:extLst>
          </p:cNvPr>
          <p:cNvSpPr/>
          <p:nvPr/>
        </p:nvSpPr>
        <p:spPr>
          <a:xfrm>
            <a:off x="1558331" y="2123261"/>
            <a:ext cx="1151811" cy="143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Buy Zone / Price Band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2D70599-F055-461D-9101-6BCD44960D81}"/>
              </a:ext>
            </a:extLst>
          </p:cNvPr>
          <p:cNvSpPr/>
          <p:nvPr/>
        </p:nvSpPr>
        <p:spPr>
          <a:xfrm>
            <a:off x="3444827" y="1798336"/>
            <a:ext cx="4417219" cy="30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19%</a:t>
            </a:r>
            <a:endParaRPr lang="en-US" sz="2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A38D544-1F39-4FA1-93B6-C622E877A983}"/>
              </a:ext>
            </a:extLst>
          </p:cNvPr>
          <p:cNvSpPr/>
          <p:nvPr/>
        </p:nvSpPr>
        <p:spPr>
          <a:xfrm>
            <a:off x="4926007" y="2091929"/>
            <a:ext cx="1450300" cy="143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Revenue Growth FY24–FY28E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4687751B-9703-4C87-942A-6584E19BE5D5}"/>
              </a:ext>
            </a:extLst>
          </p:cNvPr>
          <p:cNvSpPr/>
          <p:nvPr/>
        </p:nvSpPr>
        <p:spPr>
          <a:xfrm>
            <a:off x="617962" y="3181502"/>
            <a:ext cx="6105568" cy="3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Why Subscribe: D2C Excellence Meets Institutional Quality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9DC45D1-7E09-46FB-8193-CC98D27F5CC8}"/>
              </a:ext>
            </a:extLst>
          </p:cNvPr>
          <p:cNvSpPr/>
          <p:nvPr/>
        </p:nvSpPr>
        <p:spPr>
          <a:xfrm>
            <a:off x="617962" y="3479631"/>
            <a:ext cx="7244084" cy="178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Aura Consumer Sciences presents a rare convergence of profitable D2C economics, conservative growth assumptions, and institutional-quality valuation. IPO at ₹66 delivers 100% blended upside with DCF margin of safety, whilst post-IPO net cash position (₹16 Cr) removes balance sheet risk and funds disciplined expansion into India's 19% CAGR wellness market.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2">
            <a:extLst>
              <a:ext uri="{FF2B5EF4-FFF2-40B4-BE49-F238E27FC236}">
                <a16:creationId xmlns:a16="http://schemas.microsoft.com/office/drawing/2014/main" id="{5A8FAF2C-6016-497A-937B-7F28FC613DAB}"/>
              </a:ext>
            </a:extLst>
          </p:cNvPr>
          <p:cNvSpPr/>
          <p:nvPr/>
        </p:nvSpPr>
        <p:spPr>
          <a:xfrm>
            <a:off x="400047" y="5187251"/>
            <a:ext cx="149975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Q &amp; 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53">
            <a:extLst>
              <a:ext uri="{FF2B5EF4-FFF2-40B4-BE49-F238E27FC236}">
                <a16:creationId xmlns:a16="http://schemas.microsoft.com/office/drawing/2014/main" id="{36D800A7-2B1C-46B7-B289-FFC45EDDE843}"/>
              </a:ext>
            </a:extLst>
          </p:cNvPr>
          <p:cNvSpPr/>
          <p:nvPr/>
        </p:nvSpPr>
        <p:spPr>
          <a:xfrm>
            <a:off x="368676" y="5615017"/>
            <a:ext cx="110983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Questions Welcome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54">
            <a:extLst>
              <a:ext uri="{FF2B5EF4-FFF2-40B4-BE49-F238E27FC236}">
                <a16:creationId xmlns:a16="http://schemas.microsoft.com/office/drawing/2014/main" id="{0C611110-1693-4F7D-BA59-8A8DD359D9AB}"/>
              </a:ext>
            </a:extLst>
          </p:cNvPr>
          <p:cNvSpPr/>
          <p:nvPr/>
        </p:nvSpPr>
        <p:spPr>
          <a:xfrm>
            <a:off x="368676" y="5856728"/>
            <a:ext cx="10985964" cy="645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Muneer Ahmad</a:t>
            </a:r>
            <a:r>
              <a:rPr lang="en-US" sz="1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Aligarh Muslim University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FinOrbits IB Championship Season 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08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1513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73</TotalTime>
  <Words>1013</Words>
  <Application>Microsoft Office PowerPoint</Application>
  <PresentationFormat>Widescreen</PresentationFormat>
  <Paragraphs>241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sameer ahmed</dc:creator>
  <cp:lastModifiedBy>Ayan Hashmi</cp:lastModifiedBy>
  <cp:revision>10</cp:revision>
  <dcterms:created xsi:type="dcterms:W3CDTF">2026-04-22T18:18:36Z</dcterms:created>
  <dcterms:modified xsi:type="dcterms:W3CDTF">2026-04-23T05:21:04Z</dcterms:modified>
</cp:coreProperties>
</file>